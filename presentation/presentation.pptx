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D5A"/>
                </a:solidFill>
              </a:rPr>
              <a:t>Автоматизация ML-пайплайна</a:t>
            </a:r>
          </a:p>
          <a:p>
            <a:r>
              <a:rPr sz="2200">
                <a:solidFill>
                  <a:srgbClr val="555555"/>
                </a:solidFill>
              </a:rPr>
              <a:t>Knowledge Tracing на датасете ASSISTments 2009
BKT · DKT+Optuna · AutoML (FLAML)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D5A"/>
                </a:solidFill>
              </a:rPr>
              <a:t>Бизнес-задача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 Ключевой вопрос: ответит ли студент верно на следующую задачу по навыку?</a:t>
            </a:r>
          </a:p>
          <a:p>
            <a:pPr>
              <a:spcAft>
                <a:spcPts val="800"/>
              </a:spcAft>
            </a:pPr>
            <a:r>
              <a:rPr sz="1800"/>
              <a:t>•  Зачем: точный прогноз знаний → адаптивные рекомендации (что учить, что повторить).</a:t>
            </a:r>
          </a:p>
          <a:p>
            <a:pPr>
              <a:spcAft>
                <a:spcPts val="800"/>
              </a:spcAft>
            </a:pPr>
            <a:r>
              <a:rPr sz="1800"/>
              <a:t>•  Эффект: меньше отвала и фрустрации, выше завершаемость курса.</a:t>
            </a:r>
          </a:p>
          <a:p>
            <a:pPr>
              <a:spcAft>
                <a:spcPts val="800"/>
              </a:spcAft>
            </a:pPr>
            <a:r>
              <a:rPr sz="1800"/>
              <a:t>•  Тип задачи: бинарная классификация на временных рядах (knowledge tracing).</a:t>
            </a:r>
          </a:p>
          <a:p>
            <a:pPr>
              <a:spcAft>
                <a:spcPts val="800"/>
              </a:spcAft>
            </a:pPr>
            <a:r>
              <a:rPr sz="1800"/>
              <a:t>•  Метрика успеха: ROC-AUC прогноза следующего ответа.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D5A"/>
                </a:solidFill>
              </a:rPr>
              <a:t>Данные и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 Датасет: публичный ASSISTments 2009 (skill-builder) — стандартный бенчмарк KT.</a:t>
            </a:r>
          </a:p>
          <a:p>
            <a:pPr>
              <a:spcAft>
                <a:spcPts val="800"/>
              </a:spcAft>
            </a:pPr>
            <a:r>
              <a:rPr sz="1800"/>
              <a:t>•  Объём: 3862 студентов, 215673 взаимодействий, 109 навыков.</a:t>
            </a:r>
          </a:p>
          <a:p>
            <a:pPr>
              <a:spcAft>
                <a:spcPts val="800"/>
              </a:spcAft>
            </a:pPr>
            <a:r>
              <a:rPr sz="1800"/>
              <a:t>•  Сырьё: (студент, навык, верно/неверно) в хронологическом порядке.</a:t>
            </a:r>
          </a:p>
          <a:p>
            <a:pPr>
              <a:spcAft>
                <a:spcPts val="800"/>
              </a:spcAft>
            </a:pPr>
            <a:r>
              <a:rPr sz="1800"/>
              <a:t>•  Причинные признаки: прошлая доля верных у студента и по навыку,</a:t>
            </a:r>
          </a:p>
          <a:p>
            <a:pPr>
              <a:spcAft>
                <a:spcPts val="800"/>
              </a:spcAft>
            </a:pPr>
            <a:r>
              <a:rPr sz="1800"/>
              <a:t>•  номер попытки, сложность навыка, скользящая успешность за 3 шага.</a:t>
            </a:r>
          </a:p>
          <a:p>
            <a:pPr>
              <a:spcAft>
                <a:spcPts val="800"/>
              </a:spcAft>
            </a:pPr>
            <a:r>
              <a:rPr sz="1800"/>
              <a:t>•  Сплит по студентам (без утечки между train/val/test).</a:t>
            </a:r>
          </a:p>
        </p:txBody>
      </p:sp>
      <p:pic>
        <p:nvPicPr>
          <p:cNvPr id="4" name="Picture 3" descr="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03520" cy="21076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D5A"/>
                </a:solidFill>
              </a:rPr>
              <a:t>Архитектура ML-системы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 ETL: Extract (загрузка/кэш) → Transform (очистка, признаки, сплит) → Load (parquet).</a:t>
            </a:r>
          </a:p>
          <a:p>
            <a:pPr>
              <a:spcAft>
                <a:spcPts val="800"/>
              </a:spcAft>
            </a:pPr>
            <a:r>
              <a:rPr sz="1800"/>
              <a:t>•  Модели: BKT (байесовский baseline), DKT (LSTM),</a:t>
            </a:r>
          </a:p>
          <a:p>
            <a:pPr>
              <a:spcAft>
                <a:spcPts val="800"/>
              </a:spcAft>
            </a:pPr>
            <a:r>
              <a:rPr sz="1800"/>
              <a:t>•  DKT+Optuna (автопоиск архитектуры), AutoML FLAML (выбор модели+гиперпараметров).</a:t>
            </a:r>
          </a:p>
          <a:p>
            <a:pPr>
              <a:spcAft>
                <a:spcPts val="800"/>
              </a:spcAft>
            </a:pPr>
            <a:r>
              <a:rPr sz="1800"/>
              <a:t>•  Контейнеризация: Docker (slim, non-root); оркестрация — единый pipeline.py.</a:t>
            </a:r>
          </a:p>
          <a:p>
            <a:pPr>
              <a:spcAft>
                <a:spcPts val="800"/>
              </a:spcAft>
            </a:pPr>
            <a:r>
              <a:rPr sz="1800"/>
              <a:t>•  CI/CD: GitHub Actions (lint + pytest + docker build + smoke-run).</a:t>
            </a:r>
          </a:p>
          <a:p>
            <a:pPr>
              <a:spcAft>
                <a:spcPts val="800"/>
              </a:spcAft>
            </a:pPr>
            <a:r>
              <a:rPr sz="1800"/>
              <a:t>•  Мониторинг: MLflow (метрики/артефакты), PSI-дрейф, контроль качества данных, ресурсы.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D5A"/>
                </a:solidFill>
              </a:rPr>
              <a:t>Результаты тестирования модели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RMSE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0.444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DKT+Optuna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AutoML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0.416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29959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3832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C72B0"/>
                </a:solidFill>
              </a:rPr>
              <a:t>Лучшая модель: DKT+Optuna · AutoML выбрал: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D5A"/>
                </a:solidFill>
              </a:rPr>
              <a:t>Ключевые выводы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 Лучшая модель — DKT+Optuna: AUC = 0.816 на отложенной выборке.</a:t>
            </a:r>
          </a:p>
          <a:p>
            <a:pPr>
              <a:spcAft>
                <a:spcPts val="800"/>
              </a:spcAft>
            </a:pPr>
            <a:r>
              <a:rPr sz="1800"/>
              <a:t>•  Глубокие модели (DKT) превосходят классический BKT на реальных данных.</a:t>
            </a:r>
          </a:p>
          <a:p>
            <a:pPr>
              <a:spcAft>
                <a:spcPts val="800"/>
              </a:spcAft>
            </a:pPr>
            <a:r>
              <a:rPr sz="1800"/>
              <a:t>•  AutoML/Optuna автоматизируют подбор модели → быстрее итерации, меньше ручного труда.</a:t>
            </a:r>
          </a:p>
          <a:p>
            <a:pPr>
              <a:spcAft>
                <a:spcPts val="800"/>
              </a:spcAft>
            </a:pPr>
            <a:r>
              <a:rPr sz="1800"/>
              <a:t>•  Прогноз даёт основу для адаптивных рекомендаций и раннего выявления пробелов.</a:t>
            </a:r>
          </a:p>
          <a:p>
            <a:pPr>
              <a:spcAft>
                <a:spcPts val="800"/>
              </a:spcAft>
            </a:pPr>
            <a:r>
              <a:rPr sz="1800"/>
              <a:t>•  Пайплайн воспроизводим (Docker+CI) и наблюдаем (MLflow+дрейф) — готов к развитию.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